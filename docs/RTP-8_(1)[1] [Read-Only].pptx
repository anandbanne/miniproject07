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4" d="100"/>
          <a:sy n="64" d="100"/>
        </p:scale>
        <p:origin x="61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90D6728-785B-4C12-87E9-8BA028E9BAAF}" type="datetimeFigureOut">
              <a:rPr lang="en-IN" smtClean="0"/>
              <a:t>04-04-2025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3224227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0D6728-785B-4C12-87E9-8BA028E9BAAF}" type="datetimeFigureOut">
              <a:rPr lang="en-IN" smtClean="0"/>
              <a:t>04-04-2025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2952098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0D6728-785B-4C12-87E9-8BA028E9BAAF}" type="datetimeFigureOut">
              <a:rPr lang="en-IN" smtClean="0"/>
              <a:t>04-04-2025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834812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90D6728-785B-4C12-87E9-8BA028E9BAAF}" type="datetimeFigureOut">
              <a:rPr lang="en-IN" smtClean="0"/>
              <a:t>04-04-2025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1549892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90D6728-785B-4C12-87E9-8BA028E9BAAF}" type="datetimeFigureOut">
              <a:rPr lang="en-IN" smtClean="0"/>
              <a:t>04-04-2025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40093669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90D6728-785B-4C12-87E9-8BA028E9BAAF}" type="datetimeFigureOut">
              <a:rPr lang="en-IN" smtClean="0"/>
              <a:t>04-04-2025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1481941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390D6728-785B-4C12-87E9-8BA028E9BAAF}" type="datetimeFigureOut">
              <a:rPr lang="en-IN" smtClean="0"/>
              <a:t>04-04-2025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175442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0D6728-785B-4C12-87E9-8BA028E9BAAF}" type="datetimeFigureOut">
              <a:rPr lang="en-IN" smtClean="0"/>
              <a:t>04-04-2025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4042977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0D6728-785B-4C12-87E9-8BA028E9BAAF}" type="datetimeFigureOut">
              <a:rPr lang="en-IN" smtClean="0"/>
              <a:t>04-04-2025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741579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0D6728-785B-4C12-87E9-8BA028E9BAAF}" type="datetimeFigureOut">
              <a:rPr lang="en-IN" smtClean="0"/>
              <a:t>04-04-2025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452325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0D6728-785B-4C12-87E9-8BA028E9BAAF}" type="datetimeFigureOut">
              <a:rPr lang="en-IN" smtClean="0"/>
              <a:t>04-04-2025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34791532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0D6728-785B-4C12-87E9-8BA028E9BAAF}" type="datetimeFigureOut">
              <a:rPr lang="en-IN" smtClean="0"/>
              <a:t>04-04-2025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6EDF2B9-4119-43D0-8BE9-E2CE7EA89E2B}"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99226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0D6728-785B-4C12-87E9-8BA028E9BAAF}" type="datetimeFigureOut">
              <a:rPr lang="en-IN" smtClean="0"/>
              <a:t>04-04-2025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33263484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90D6728-785B-4C12-87E9-8BA028E9BAAF}" type="datetimeFigureOut">
              <a:rPr lang="en-IN" smtClean="0"/>
              <a:t>04-04-2025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12833530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90D6728-785B-4C12-87E9-8BA028E9BAAF}" type="datetimeFigureOut">
              <a:rPr lang="en-IN" smtClean="0"/>
              <a:t>04-04-2025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41327785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0D6728-785B-4C12-87E9-8BA028E9BAAF}" type="datetimeFigureOut">
              <a:rPr lang="en-IN" smtClean="0"/>
              <a:t>04-04-2025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39145488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0D6728-785B-4C12-87E9-8BA028E9BAAF}" type="datetimeFigureOut">
              <a:rPr lang="en-IN" smtClean="0"/>
              <a:t>04-04-2025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3668774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390D6728-785B-4C12-87E9-8BA028E9BAAF}" type="datetimeFigureOut">
              <a:rPr lang="en-IN" smtClean="0"/>
              <a:t>04-04-2025</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E6EDF2B9-4119-43D0-8BE9-E2CE7EA89E2B}" type="slidenum">
              <a:rPr lang="en-IN" smtClean="0"/>
              <a:t>‹#›</a:t>
            </a:fld>
            <a:endParaRPr lang="en-IN"/>
          </a:p>
        </p:txBody>
      </p:sp>
    </p:spTree>
    <p:extLst>
      <p:ext uri="{BB962C8B-B14F-4D97-AF65-F5344CB8AC3E}">
        <p14:creationId xmlns:p14="http://schemas.microsoft.com/office/powerpoint/2010/main" val="32783949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4D60369-D9A7-05D1-3320-14B419ADFCD8}"/>
              </a:ext>
            </a:extLst>
          </p:cNvPr>
          <p:cNvSpPr txBox="1"/>
          <p:nvPr/>
        </p:nvSpPr>
        <p:spPr>
          <a:xfrm>
            <a:off x="966161" y="0"/>
            <a:ext cx="11388178" cy="2646879"/>
          </a:xfrm>
          <a:prstGeom prst="rect">
            <a:avLst/>
          </a:prstGeom>
          <a:noFill/>
        </p:spPr>
        <p:txBody>
          <a:bodyPr wrap="square">
            <a:spAutoFit/>
          </a:bodyPr>
          <a:lstStyle/>
          <a:p>
            <a:pPr algn="ctr" defTabSz="761970"/>
            <a:r>
              <a:rPr lang="en-US" altLang="en-US" sz="5400" b="1" dirty="0" bmk="_Hlk30499946">
                <a:solidFill>
                  <a:srgbClr val="000000"/>
                </a:solidFill>
                <a:latin typeface="Book Antiqua" panose="02040602050305030304" pitchFamily="18" charset="0"/>
                <a:ea typeface="Times New Roman" panose="02020603050405020304" pitchFamily="18" charset="0"/>
                <a:cs typeface="Bookman Old Style" panose="02050604050505020204" pitchFamily="18" charset="0"/>
              </a:rPr>
              <a:t>ACE </a:t>
            </a:r>
          </a:p>
          <a:p>
            <a:pPr algn="ctr" defTabSz="761970"/>
            <a:r>
              <a:rPr lang="en-US" altLang="en-US" sz="4000" b="1" dirty="0" bmk="_Hlk30499946">
                <a:solidFill>
                  <a:srgbClr val="000000"/>
                </a:solidFill>
                <a:latin typeface="Book Antiqua" panose="02040602050305030304" pitchFamily="18" charset="0"/>
                <a:ea typeface="Times New Roman" panose="02020603050405020304" pitchFamily="18" charset="0"/>
                <a:cs typeface="Bookman Old Style" panose="02050604050505020204" pitchFamily="18" charset="0"/>
              </a:rPr>
              <a:t> Engineering College</a:t>
            </a:r>
            <a:endParaRPr lang="en-US" altLang="en-US" sz="4000" b="1" dirty="0" bmk="_Hlk30499946">
              <a:latin typeface="Book Antiqua" panose="02040602050305030304" pitchFamily="18" charset="0"/>
            </a:endParaRPr>
          </a:p>
          <a:p>
            <a:pPr algn="ctr" defTabSz="761970"/>
            <a:r>
              <a:rPr lang="en-US" altLang="en-US" sz="1800" b="1" dirty="0" bmk="_Hlk30499946">
                <a:latin typeface="Book Antiqua" panose="02040602050305030304" pitchFamily="18" charset="0"/>
                <a:ea typeface="Times New Roman" panose="02020603050405020304" pitchFamily="18" charset="0"/>
                <a:cs typeface="Times New Roman" panose="02020603050405020304" pitchFamily="18" charset="0"/>
              </a:rPr>
              <a:t>An Autonomous Institution</a:t>
            </a:r>
            <a:endParaRPr lang="en-US" altLang="en-US" sz="1800" b="1" dirty="0" bmk="_Hlk30499946">
              <a:latin typeface="Book Antiqua" panose="02040602050305030304" pitchFamily="18" charset="0"/>
            </a:endParaRPr>
          </a:p>
          <a:p>
            <a:pPr algn="ctr" defTabSz="761970"/>
            <a:r>
              <a:rPr lang="en-US" altLang="en-US" sz="1800" b="1" u="sng" dirty="0" err="1" bmk="_Hlk30499946">
                <a:solidFill>
                  <a:srgbClr val="000000"/>
                </a:solidFill>
                <a:latin typeface="Book Antiqua" panose="02040602050305030304" pitchFamily="18" charset="0"/>
                <a:ea typeface="Times New Roman" panose="02020603050405020304" pitchFamily="18" charset="0"/>
                <a:cs typeface="Arial" panose="020B0604020202020204" pitchFamily="34" charset="0"/>
              </a:rPr>
              <a:t>Ankushapur</a:t>
            </a:r>
            <a:r>
              <a:rPr lang="en-US" altLang="en-US" sz="1800" b="1" u="sng" dirty="0" bmk="_Hlk30499946">
                <a:solidFill>
                  <a:srgbClr val="000000"/>
                </a:solidFill>
                <a:latin typeface="Book Antiqua" panose="02040602050305030304" pitchFamily="18" charset="0"/>
                <a:ea typeface="Times New Roman" panose="02020603050405020304" pitchFamily="18" charset="0"/>
                <a:cs typeface="Arial" panose="020B0604020202020204" pitchFamily="34" charset="0"/>
              </a:rPr>
              <a:t> (V), </a:t>
            </a:r>
            <a:r>
              <a:rPr lang="en-US" altLang="en-US" sz="1800" b="1" u="sng" dirty="0" err="1" bmk="_Hlk30499946">
                <a:solidFill>
                  <a:srgbClr val="000000"/>
                </a:solidFill>
                <a:latin typeface="Book Antiqua" panose="02040602050305030304" pitchFamily="18" charset="0"/>
                <a:ea typeface="Times New Roman" panose="02020603050405020304" pitchFamily="18" charset="0"/>
                <a:cs typeface="Arial" panose="020B0604020202020204" pitchFamily="34" charset="0"/>
              </a:rPr>
              <a:t>Ghatkesar</a:t>
            </a:r>
            <a:r>
              <a:rPr lang="en-US" altLang="en-US" sz="1800" b="1" u="sng" dirty="0" bmk="_Hlk30499946">
                <a:solidFill>
                  <a:srgbClr val="000000"/>
                </a:solidFill>
                <a:latin typeface="Book Antiqua" panose="02040602050305030304" pitchFamily="18" charset="0"/>
                <a:ea typeface="Times New Roman" panose="02020603050405020304" pitchFamily="18" charset="0"/>
                <a:cs typeface="Arial" panose="020B0604020202020204" pitchFamily="34" charset="0"/>
              </a:rPr>
              <a:t> (M), </a:t>
            </a:r>
            <a:r>
              <a:rPr lang="en-US" altLang="en-US" sz="1800" b="1" u="sng" dirty="0" err="1" bmk="_Hlk30499946">
                <a:solidFill>
                  <a:srgbClr val="000000"/>
                </a:solidFill>
                <a:latin typeface="Book Antiqua" panose="02040602050305030304" pitchFamily="18" charset="0"/>
                <a:ea typeface="Times New Roman" panose="02020603050405020304" pitchFamily="18" charset="0"/>
                <a:cs typeface="Arial" panose="020B0604020202020204" pitchFamily="34" charset="0"/>
              </a:rPr>
              <a:t>Medchal</a:t>
            </a:r>
            <a:r>
              <a:rPr lang="en-US" altLang="en-US" sz="1800" b="1" u="sng" dirty="0" bmk="_Hlk30499946">
                <a:solidFill>
                  <a:srgbClr val="000000"/>
                </a:solidFill>
                <a:latin typeface="Book Antiqua" panose="02040602050305030304" pitchFamily="18" charset="0"/>
                <a:ea typeface="Times New Roman" panose="02020603050405020304" pitchFamily="18" charset="0"/>
                <a:cs typeface="Arial" panose="020B0604020202020204" pitchFamily="34" charset="0"/>
              </a:rPr>
              <a:t> Dist. – 501 301</a:t>
            </a:r>
            <a:endParaRPr lang="en-US" altLang="en-US" sz="1800" b="1" dirty="0" bmk="_Hlk30499946">
              <a:latin typeface="Book Antiqua" panose="02040602050305030304" pitchFamily="18" charset="0"/>
            </a:endParaRPr>
          </a:p>
          <a:p>
            <a:pPr algn="ctr" defTabSz="761970"/>
            <a:endParaRPr lang="en-US" altLang="en-US" b="1" dirty="0" bmk="_Hlk30499946">
              <a:solidFill>
                <a:srgbClr val="000000"/>
              </a:solidFill>
              <a:latin typeface="Book Antiqua" panose="02040602050305030304" pitchFamily="18" charset="0"/>
              <a:ea typeface="Times New Roman" panose="02020603050405020304" pitchFamily="18" charset="0"/>
              <a:cs typeface="Arial" panose="020B0604020202020204" pitchFamily="34" charset="0"/>
            </a:endParaRPr>
          </a:p>
          <a:p>
            <a:pPr algn="ctr" defTabSz="761970"/>
            <a:r>
              <a:rPr lang="en-US" altLang="en-US" b="1" dirty="0" bmk="_Hlk30499946">
                <a:solidFill>
                  <a:srgbClr val="000000"/>
                </a:solidFill>
                <a:latin typeface="Book Antiqua" panose="02040602050305030304" pitchFamily="18" charset="0"/>
                <a:ea typeface="Times New Roman" panose="02020603050405020304" pitchFamily="18" charset="0"/>
                <a:cs typeface="Arial" panose="020B0604020202020204" pitchFamily="34" charset="0"/>
              </a:rPr>
              <a:t>DEPARTMENT OF CSE(ARTIFICIAL INTELLIGENCE &amp; MACHINE LEARNING)</a:t>
            </a:r>
          </a:p>
        </p:txBody>
      </p:sp>
      <p:pic>
        <p:nvPicPr>
          <p:cNvPr id="5" name="Picture 4">
            <a:extLst>
              <a:ext uri="{FF2B5EF4-FFF2-40B4-BE49-F238E27FC236}">
                <a16:creationId xmlns:a16="http://schemas.microsoft.com/office/drawing/2014/main" id="{D6E0A4FC-509A-714A-DCFA-916D52017D57}"/>
              </a:ext>
            </a:extLst>
          </p:cNvPr>
          <p:cNvPicPr>
            <a:picLocks noChangeAspect="1"/>
          </p:cNvPicPr>
          <p:nvPr/>
        </p:nvPicPr>
        <p:blipFill>
          <a:blip r:embed="rId2"/>
          <a:stretch>
            <a:fillRect/>
          </a:stretch>
        </p:blipFill>
        <p:spPr>
          <a:xfrm>
            <a:off x="4412974" y="-34895"/>
            <a:ext cx="879722" cy="879722"/>
          </a:xfrm>
          <a:prstGeom prst="rect">
            <a:avLst/>
          </a:prstGeom>
        </p:spPr>
      </p:pic>
      <p:sp>
        <p:nvSpPr>
          <p:cNvPr id="7" name="TextBox 6">
            <a:extLst>
              <a:ext uri="{FF2B5EF4-FFF2-40B4-BE49-F238E27FC236}">
                <a16:creationId xmlns:a16="http://schemas.microsoft.com/office/drawing/2014/main" id="{6664D30E-33D0-C55F-5ACE-C784985E0697}"/>
              </a:ext>
            </a:extLst>
          </p:cNvPr>
          <p:cNvSpPr txBox="1"/>
          <p:nvPr/>
        </p:nvSpPr>
        <p:spPr>
          <a:xfrm>
            <a:off x="0" y="2410136"/>
            <a:ext cx="12354338" cy="369332"/>
          </a:xfrm>
          <a:prstGeom prst="rect">
            <a:avLst/>
          </a:prstGeom>
          <a:noFill/>
        </p:spPr>
        <p:txBody>
          <a:bodyPr wrap="square">
            <a:spAutoFit/>
          </a:bodyPr>
          <a:lstStyle/>
          <a:p>
            <a:pPr algn="ctr" defTabSz="761970"/>
            <a:r>
              <a:rPr lang="en-US" altLang="en-US" b="1" dirty="0" bmk="_Hlk30499946">
                <a:solidFill>
                  <a:srgbClr val="000000"/>
                </a:solidFill>
                <a:latin typeface="Bookman Old Style" panose="02050604050505020204" pitchFamily="18" charset="0"/>
                <a:ea typeface="Times New Roman" panose="02020603050405020304" pitchFamily="18" charset="0"/>
                <a:cs typeface="Arial" panose="020B0604020202020204" pitchFamily="34" charset="0"/>
              </a:rPr>
              <a:t>-------------------------------------------------------------------------------------------------------------------------------------------------</a:t>
            </a:r>
          </a:p>
        </p:txBody>
      </p:sp>
      <p:sp>
        <p:nvSpPr>
          <p:cNvPr id="9" name="TextBox 8">
            <a:extLst>
              <a:ext uri="{FF2B5EF4-FFF2-40B4-BE49-F238E27FC236}">
                <a16:creationId xmlns:a16="http://schemas.microsoft.com/office/drawing/2014/main" id="{4BAFDF3E-CED6-DF05-CC03-298CDAA879E0}"/>
              </a:ext>
            </a:extLst>
          </p:cNvPr>
          <p:cNvSpPr txBox="1"/>
          <p:nvPr/>
        </p:nvSpPr>
        <p:spPr>
          <a:xfrm>
            <a:off x="637960" y="3254963"/>
            <a:ext cx="11108561" cy="954107"/>
          </a:xfrm>
          <a:prstGeom prst="rect">
            <a:avLst/>
          </a:prstGeom>
          <a:noFill/>
        </p:spPr>
        <p:txBody>
          <a:bodyPr wrap="square">
            <a:spAutoFit/>
          </a:bodyPr>
          <a:lstStyle/>
          <a:p>
            <a:r>
              <a:rPr lang="en-US" sz="2800" b="1" dirty="0">
                <a:solidFill>
                  <a:schemeClr val="tx1">
                    <a:lumMod val="95000"/>
                    <a:lumOff val="5000"/>
                  </a:schemeClr>
                </a:solidFill>
                <a:latin typeface="Times New Roman" panose="02020603050405020304" pitchFamily="18" charset="0"/>
                <a:cs typeface="Times New Roman" panose="02020603050405020304" pitchFamily="18" charset="0"/>
              </a:rPr>
              <a:t>H</a:t>
            </a:r>
            <a:r>
              <a:rPr lang="en-IN" sz="2800" b="1" dirty="0">
                <a:solidFill>
                  <a:schemeClr val="tx1">
                    <a:lumMod val="95000"/>
                    <a:lumOff val="5000"/>
                  </a:schemeClr>
                </a:solidFill>
                <a:latin typeface="Times New Roman" panose="02020603050405020304" pitchFamily="18" charset="0"/>
                <a:cs typeface="Times New Roman" panose="02020603050405020304" pitchFamily="18" charset="0"/>
              </a:rPr>
              <a:t>YBRID BASED TECHNOLOGY OF HOSTEL  MANAGEMENT</a:t>
            </a:r>
          </a:p>
          <a:p>
            <a:r>
              <a:rPr lang="en-IN" sz="2800" b="1" dirty="0">
                <a:solidFill>
                  <a:schemeClr val="tx1">
                    <a:lumMod val="95000"/>
                    <a:lumOff val="5000"/>
                  </a:schemeClr>
                </a:solidFill>
                <a:latin typeface="Times New Roman" panose="02020603050405020304" pitchFamily="18" charset="0"/>
                <a:cs typeface="Times New Roman" panose="02020603050405020304" pitchFamily="18" charset="0"/>
              </a:rPr>
              <a:t>                      USING ARTIFICIAL INTELLIGENCE</a:t>
            </a:r>
            <a:endParaRPr lang="en-IN" sz="2800" dirty="0"/>
          </a:p>
        </p:txBody>
      </p:sp>
      <p:sp>
        <p:nvSpPr>
          <p:cNvPr id="11" name="TextBox 10">
            <a:extLst>
              <a:ext uri="{FF2B5EF4-FFF2-40B4-BE49-F238E27FC236}">
                <a16:creationId xmlns:a16="http://schemas.microsoft.com/office/drawing/2014/main" id="{21510C82-C00B-F4FB-B8B4-0CC643EA423D}"/>
              </a:ext>
            </a:extLst>
          </p:cNvPr>
          <p:cNvSpPr txBox="1"/>
          <p:nvPr/>
        </p:nvSpPr>
        <p:spPr>
          <a:xfrm>
            <a:off x="-1422360" y="5154499"/>
            <a:ext cx="6195327" cy="664904"/>
          </a:xfrm>
          <a:prstGeom prst="rect">
            <a:avLst/>
          </a:prstGeom>
          <a:noFill/>
        </p:spPr>
        <p:txBody>
          <a:bodyPr wrap="square">
            <a:spAutoFit/>
          </a:bodyPr>
          <a:lstStyle/>
          <a:p>
            <a:pPr algn="ctr"/>
            <a:r>
              <a:rPr lang="en-US" b="1" dirty="0">
                <a:solidFill>
                  <a:schemeClr val="tx1">
                    <a:lumMod val="95000"/>
                    <a:lumOff val="5000"/>
                  </a:schemeClr>
                </a:solidFill>
                <a:latin typeface="Times New Roman" panose="02020603050405020304" pitchFamily="18" charset="0"/>
                <a:cs typeface="Times New Roman" panose="02020603050405020304" pitchFamily="18" charset="0"/>
              </a:rPr>
              <a:t>UNDER THE GUIDANCE OF</a:t>
            </a:r>
          </a:p>
          <a:p>
            <a:pPr algn="ct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Mr.S.Venkatesh</a:t>
            </a:r>
            <a:endParaRPr lang="en-US"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927AA3C0-132C-3FFA-DFAC-47B520BB313C}"/>
              </a:ext>
            </a:extLst>
          </p:cNvPr>
          <p:cNvSpPr txBox="1"/>
          <p:nvPr/>
        </p:nvSpPr>
        <p:spPr>
          <a:xfrm>
            <a:off x="2098486" y="5173072"/>
            <a:ext cx="6787660" cy="646331"/>
          </a:xfrm>
          <a:prstGeom prst="rect">
            <a:avLst/>
          </a:prstGeom>
          <a:noFill/>
        </p:spPr>
        <p:txBody>
          <a:bodyPr wrap="square">
            <a:spAutoFit/>
          </a:bodyPr>
          <a:lstStyle/>
          <a:p>
            <a:pPr algn="ctr"/>
            <a:r>
              <a:rPr lang="en-IN" b="1" dirty="0">
                <a:latin typeface="Times New Roman" panose="02020603050405020304" pitchFamily="18" charset="0"/>
                <a:cs typeface="Times New Roman" panose="02020603050405020304" pitchFamily="18" charset="0"/>
              </a:rPr>
              <a:t>PROJECT COORDINATOR </a:t>
            </a:r>
          </a:p>
          <a:p>
            <a:pPr algn="ctr"/>
            <a:r>
              <a:rPr lang="en-IN" dirty="0" err="1">
                <a:latin typeface="Times New Roman" panose="02020603050405020304" pitchFamily="18" charset="0"/>
                <a:cs typeface="Times New Roman" panose="02020603050405020304" pitchFamily="18" charset="0"/>
              </a:rPr>
              <a:t>Mrs</a:t>
            </a:r>
            <a:r>
              <a:rPr lang="en-IN" b="1" dirty="0" err="1">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J.Bhargavi</a:t>
            </a:r>
            <a:endParaRPr lang="en-IN"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24B33D7-53E5-3C3C-CF09-519D5F8B094D}"/>
              </a:ext>
            </a:extLst>
          </p:cNvPr>
          <p:cNvSpPr txBox="1"/>
          <p:nvPr/>
        </p:nvSpPr>
        <p:spPr>
          <a:xfrm>
            <a:off x="8548362" y="5142484"/>
            <a:ext cx="6888144" cy="1200329"/>
          </a:xfrm>
          <a:prstGeom prst="rect">
            <a:avLst/>
          </a:prstGeom>
          <a:noFill/>
        </p:spPr>
        <p:txBody>
          <a:bodyPr wrap="square">
            <a:spAutoFit/>
          </a:bodyPr>
          <a:lstStyle/>
          <a:p>
            <a:r>
              <a:rPr lang="en-IN" b="1" dirty="0"/>
              <a:t> </a:t>
            </a:r>
            <a:r>
              <a:rPr lang="en-IN" b="1" dirty="0">
                <a:latin typeface="Times New Roman" panose="02020603050405020304" pitchFamily="18" charset="0"/>
                <a:cs typeface="Times New Roman" panose="02020603050405020304" pitchFamily="18" charset="0"/>
              </a:rPr>
              <a:t>PRESENTED BY:</a:t>
            </a:r>
          </a:p>
          <a:p>
            <a:r>
              <a:rPr lang="en-IN" dirty="0">
                <a:latin typeface="Times New Roman" panose="02020603050405020304" pitchFamily="18" charset="0"/>
                <a:cs typeface="Times New Roman" panose="02020603050405020304" pitchFamily="18" charset="0"/>
              </a:rPr>
              <a:t>Anna Harish   </a:t>
            </a:r>
            <a:r>
              <a:rPr lang="en-IN">
                <a:latin typeface="Times New Roman" panose="02020603050405020304" pitchFamily="18" charset="0"/>
                <a:cs typeface="Times New Roman" panose="02020603050405020304" pitchFamily="18" charset="0"/>
              </a:rPr>
              <a:t>- 23AG1A6603</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Banne Anand  - 23AGIA6609</a:t>
            </a:r>
          </a:p>
          <a:p>
            <a:r>
              <a:rPr lang="en-IN" dirty="0">
                <a:latin typeface="Times New Roman" panose="02020603050405020304" pitchFamily="18" charset="0"/>
                <a:cs typeface="Times New Roman" panose="02020603050405020304" pitchFamily="18" charset="0"/>
              </a:rPr>
              <a:t>P . Badrinath     - 23AG1A6645</a:t>
            </a:r>
          </a:p>
        </p:txBody>
      </p:sp>
      <p:sp>
        <p:nvSpPr>
          <p:cNvPr id="17" name="TextBox 16">
            <a:extLst>
              <a:ext uri="{FF2B5EF4-FFF2-40B4-BE49-F238E27FC236}">
                <a16:creationId xmlns:a16="http://schemas.microsoft.com/office/drawing/2014/main" id="{9A509298-223A-BBA6-D4FC-02D2E9253FF6}"/>
              </a:ext>
            </a:extLst>
          </p:cNvPr>
          <p:cNvSpPr txBox="1"/>
          <p:nvPr/>
        </p:nvSpPr>
        <p:spPr>
          <a:xfrm>
            <a:off x="97525" y="2516728"/>
            <a:ext cx="12189433" cy="369332"/>
          </a:xfrm>
          <a:prstGeom prst="rect">
            <a:avLst/>
          </a:prstGeom>
          <a:noFill/>
        </p:spPr>
        <p:txBody>
          <a:bodyPr wrap="square">
            <a:spAutoFit/>
          </a:bodyPr>
          <a:lstStyle/>
          <a:p>
            <a:r>
              <a:rPr lang="en-US" altLang="en-US" b="1" dirty="0" bmk="_Hlk30499946">
                <a:solidFill>
                  <a:srgbClr val="000000"/>
                </a:solidFill>
                <a:latin typeface="Bookman Old Style" panose="02050604050505020204" pitchFamily="18" charset="0"/>
                <a:ea typeface="Times New Roman" panose="02020603050405020304" pitchFamily="18" charset="0"/>
                <a:cs typeface="Arial" panose="020B0604020202020204" pitchFamily="34" charset="0"/>
              </a:rPr>
              <a:t>-------------------------------------------------------------------------------------------------------------------------------------------------</a:t>
            </a:r>
            <a:endParaRPr lang="en-IN" dirty="0"/>
          </a:p>
        </p:txBody>
      </p:sp>
    </p:spTree>
    <p:extLst>
      <p:ext uri="{BB962C8B-B14F-4D97-AF65-F5344CB8AC3E}">
        <p14:creationId xmlns:p14="http://schemas.microsoft.com/office/powerpoint/2010/main" val="3590371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DB0219-700A-EDA3-AC08-469B35A7CE32}"/>
              </a:ext>
            </a:extLst>
          </p:cNvPr>
          <p:cNvSpPr txBox="1"/>
          <p:nvPr/>
        </p:nvSpPr>
        <p:spPr>
          <a:xfrm>
            <a:off x="2939497" y="272534"/>
            <a:ext cx="6097656" cy="369332"/>
          </a:xfrm>
          <a:prstGeom prst="rect">
            <a:avLst/>
          </a:prstGeom>
          <a:noFill/>
        </p:spPr>
        <p:txBody>
          <a:bodyPr wrap="square">
            <a:spAutoFit/>
          </a:bodyPr>
          <a:lstStyle/>
          <a:p>
            <a:pPr algn="ctr"/>
            <a:r>
              <a:rPr lang="en-IN" sz="1800" b="1" u="sng" dirty="0">
                <a:latin typeface="Times New Roman" panose="02020603050405020304" pitchFamily="18" charset="0"/>
                <a:cs typeface="Times New Roman" panose="02020603050405020304" pitchFamily="18" charset="0"/>
              </a:rPr>
              <a:t>ABSTRACT</a:t>
            </a:r>
          </a:p>
        </p:txBody>
      </p:sp>
      <p:sp>
        <p:nvSpPr>
          <p:cNvPr id="4" name="TextBox 3">
            <a:extLst>
              <a:ext uri="{FF2B5EF4-FFF2-40B4-BE49-F238E27FC236}">
                <a16:creationId xmlns:a16="http://schemas.microsoft.com/office/drawing/2014/main" id="{C6ADAD36-F204-497A-5871-6D716D543409}"/>
              </a:ext>
            </a:extLst>
          </p:cNvPr>
          <p:cNvSpPr txBox="1"/>
          <p:nvPr/>
        </p:nvSpPr>
        <p:spPr>
          <a:xfrm>
            <a:off x="845574" y="1305341"/>
            <a:ext cx="10736825" cy="5232202"/>
          </a:xfrm>
          <a:prstGeom prst="rect">
            <a:avLst/>
          </a:prstGeom>
          <a:noFill/>
        </p:spPr>
        <p:txBody>
          <a:bodyPr wrap="square">
            <a:spAutoFit/>
          </a:bodyPr>
          <a:lstStyle/>
          <a:p>
            <a:r>
              <a:rPr lang="en-US" dirty="0"/>
              <a:t>  The integration of hybrid technology and artificial intelligence (AI) into hostel management systems offers a transformative approach to streamline operations, enhance guest experiences, and optimize resource utilization. Traditional hostel management often relies on fragmented, manual processes, leading to inefficiencies in room allocation, security, maintenance, and energy consumption. This Project proposes a hybrid-AI framework that combines cloud-based </a:t>
            </a:r>
            <a:r>
              <a:rPr lang="en-US" dirty="0" err="1"/>
              <a:t>platforms,and</a:t>
            </a:r>
            <a:r>
              <a:rPr lang="en-US" dirty="0"/>
              <a:t> on-premise infrastructure to create a scalable and adaptive management system.  AI-driven tools, such as machine learning algorithms, automate dynamic pricing and room allocation based on demand patterns. A hybrid cloud-edge architecture ensures real-time data processing for swift decision-making, coupled with robust offline functionality to maintain operations during connectivity disruptions. Additionally, AI-powered handle guest inquiries and personalized recommendations, improving service quality.  This system not only reduces operational costs and human error but also elevates guest satisfaction through seamless, data-driven interactions. By harmonizing legacy systems with cutting-edge AI, the proposed model provides a sustainable, future-ready solution for modern hostels, balancing efficiency, security, and user-centric innovation.</a:t>
            </a:r>
          </a:p>
          <a:p>
            <a:endParaRPr lang="en-US" dirty="0"/>
          </a:p>
          <a:p>
            <a:r>
              <a:rPr lang="en-US" sz="2000" dirty="0">
                <a:latin typeface="Arial Black" panose="020B0A04020102020204" pitchFamily="34" charset="0"/>
              </a:rPr>
              <a:t>Keywords:</a:t>
            </a:r>
          </a:p>
          <a:p>
            <a:r>
              <a:rPr lang="en-US" sz="2000" dirty="0"/>
              <a:t>Hybrid technology</a:t>
            </a:r>
          </a:p>
          <a:p>
            <a:r>
              <a:rPr lang="en-US" sz="2000" dirty="0"/>
              <a:t>AI Powered Hostel Management</a:t>
            </a:r>
          </a:p>
          <a:p>
            <a:r>
              <a:rPr lang="en-US" sz="2000" dirty="0"/>
              <a:t>Automated Room Allocation</a:t>
            </a:r>
          </a:p>
          <a:p>
            <a:r>
              <a:rPr lang="en-US" sz="2000" dirty="0"/>
              <a:t>Guest Experience Optimization</a:t>
            </a:r>
            <a:endParaRPr lang="en-IN" sz="2000" dirty="0"/>
          </a:p>
        </p:txBody>
      </p:sp>
    </p:spTree>
    <p:extLst>
      <p:ext uri="{BB962C8B-B14F-4D97-AF65-F5344CB8AC3E}">
        <p14:creationId xmlns:p14="http://schemas.microsoft.com/office/powerpoint/2010/main" val="198767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11F2B10-F2A5-A825-B900-F519F71D30C1}"/>
              </a:ext>
            </a:extLst>
          </p:cNvPr>
          <p:cNvSpPr txBox="1"/>
          <p:nvPr/>
        </p:nvSpPr>
        <p:spPr>
          <a:xfrm>
            <a:off x="3838732" y="2475864"/>
            <a:ext cx="4353531" cy="830997"/>
          </a:xfrm>
          <a:prstGeom prst="rect">
            <a:avLst/>
          </a:prstGeom>
          <a:noFill/>
        </p:spPr>
        <p:txBody>
          <a:bodyPr wrap="square">
            <a:spAutoFit/>
          </a:bodyPr>
          <a:lstStyle/>
          <a:p>
            <a:r>
              <a:rPr lang="en-IN" sz="4800" b="1" dirty="0">
                <a:latin typeface="Times New Roman" panose="02020603050405020304" pitchFamily="18" charset="0"/>
                <a:cs typeface="Times New Roman" panose="02020603050405020304" pitchFamily="18" charset="0"/>
              </a:rPr>
              <a:t>THANK YOU</a:t>
            </a:r>
          </a:p>
        </p:txBody>
      </p:sp>
      <p:sp>
        <p:nvSpPr>
          <p:cNvPr id="7" name="TextBox 6">
            <a:extLst>
              <a:ext uri="{FF2B5EF4-FFF2-40B4-BE49-F238E27FC236}">
                <a16:creationId xmlns:a16="http://schemas.microsoft.com/office/drawing/2014/main" id="{0412562B-5DE4-06B3-CA52-D7B6638B353D}"/>
              </a:ext>
            </a:extLst>
          </p:cNvPr>
          <p:cNvSpPr txBox="1"/>
          <p:nvPr/>
        </p:nvSpPr>
        <p:spPr>
          <a:xfrm>
            <a:off x="0" y="3181808"/>
            <a:ext cx="12192000" cy="369332"/>
          </a:xfrm>
          <a:prstGeom prst="rect">
            <a:avLst/>
          </a:prstGeom>
          <a:noFill/>
        </p:spPr>
        <p:txBody>
          <a:bodyPr wrap="square">
            <a:spAutoFit/>
          </a:bodyPr>
          <a:lstStyle/>
          <a:p>
            <a:r>
              <a:rPr lang="en-US" altLang="en-US" b="1" dirty="0" bmk="_Hlk30499946">
                <a:solidFill>
                  <a:srgbClr val="000000"/>
                </a:solidFill>
                <a:latin typeface="Bookman Old Style" panose="02050604050505020204" pitchFamily="18" charset="0"/>
                <a:ea typeface="Times New Roman" panose="02020603050405020304" pitchFamily="18" charset="0"/>
                <a:cs typeface="Arial" panose="020B0604020202020204" pitchFamily="34" charset="0"/>
              </a:rPr>
              <a:t>-------------------------------------------------------------------------------------------------------------------------------------------------</a:t>
            </a:r>
            <a:endParaRPr lang="en-IN" dirty="0"/>
          </a:p>
        </p:txBody>
      </p:sp>
      <p:sp>
        <p:nvSpPr>
          <p:cNvPr id="9" name="TextBox 8">
            <a:extLst>
              <a:ext uri="{FF2B5EF4-FFF2-40B4-BE49-F238E27FC236}">
                <a16:creationId xmlns:a16="http://schemas.microsoft.com/office/drawing/2014/main" id="{8603A443-A4DA-3B5D-57F5-9B6449C75619}"/>
              </a:ext>
            </a:extLst>
          </p:cNvPr>
          <p:cNvSpPr txBox="1"/>
          <p:nvPr/>
        </p:nvSpPr>
        <p:spPr>
          <a:xfrm>
            <a:off x="0" y="2121691"/>
            <a:ext cx="12192000" cy="369332"/>
          </a:xfrm>
          <a:prstGeom prst="rect">
            <a:avLst/>
          </a:prstGeom>
          <a:noFill/>
        </p:spPr>
        <p:txBody>
          <a:bodyPr wrap="square">
            <a:spAutoFit/>
          </a:bodyPr>
          <a:lstStyle/>
          <a:p>
            <a:r>
              <a:rPr lang="en-US" altLang="en-US" b="1" dirty="0" bmk="_Hlk30499946">
                <a:solidFill>
                  <a:srgbClr val="000000"/>
                </a:solidFill>
                <a:latin typeface="Bookman Old Style" panose="02050604050505020204" pitchFamily="18" charset="0"/>
                <a:ea typeface="Times New Roman" panose="02020603050405020304" pitchFamily="18" charset="0"/>
                <a:cs typeface="Arial" panose="020B0604020202020204" pitchFamily="34" charset="0"/>
              </a:rPr>
              <a:t>-------------------------------------------------------------------------------------------------------------------------------------------------</a:t>
            </a:r>
            <a:endParaRPr lang="en-IN" dirty="0"/>
          </a:p>
        </p:txBody>
      </p:sp>
    </p:spTree>
    <p:extLst>
      <p:ext uri="{BB962C8B-B14F-4D97-AF65-F5344CB8AC3E}">
        <p14:creationId xmlns:p14="http://schemas.microsoft.com/office/powerpoint/2010/main" val="3859718320"/>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76</TotalTime>
  <Words>288</Words>
  <Application>Microsoft Office PowerPoint</Application>
  <PresentationFormat>Widescreen</PresentationFormat>
  <Paragraphs>29</Paragraphs>
  <Slides>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vt:i4>
      </vt:variant>
    </vt:vector>
  </HeadingPairs>
  <TitlesOfParts>
    <vt:vector size="10" baseType="lpstr">
      <vt:lpstr>Arial</vt:lpstr>
      <vt:lpstr>Arial Black</vt:lpstr>
      <vt:lpstr>Book Antiqua</vt:lpstr>
      <vt:lpstr>Bookman Old Style</vt:lpstr>
      <vt:lpstr>Times New Roman</vt:lpstr>
      <vt:lpstr>Tw Cen MT</vt:lpstr>
      <vt:lpstr>Droplet</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someshwar6617@outlook.com</dc:creator>
  <cp:lastModifiedBy>Banne Srikrishna</cp:lastModifiedBy>
  <cp:revision>3</cp:revision>
  <dcterms:created xsi:type="dcterms:W3CDTF">2025-02-13T16:28:22Z</dcterms:created>
  <dcterms:modified xsi:type="dcterms:W3CDTF">2025-04-04T05:16:29Z</dcterms:modified>
</cp:coreProperties>
</file>